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课前展示examples/teacher_results。不要先告诉学生哪一种一定更好。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模型合同见docs/model_contract.md。两模型缓存都按未完成记录原始payload计量，包括在传记录。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先让学生预测每个场景，再看参考结果，区分业务差异和实现错误。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必做20分，公开4组测试。先手算2用户小例子，不把空闲自动转为共享服务。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必做20分，公开4组测试。演示160 bit分组跨128 bit时隙发送，不再加第二个包头。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必做15分。提醒低平均时延也可能是大量数据没有送达，不能只比较一个指标。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教师参考实现，config默认参数、seed2026。连续业务电路有效利用率1.0，分组约0.797；错峰突发电路约0.492，分组0.75。实验不是预设分组总是更好。来源examples/teacher_results/comparison.json。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预置PCM示例：32时隙、8bit、8kHz，对应2.048Mbit/s。比较模型的128kbit/s是另一组抽象配置，不可混淆。空闲码255只是示例。后续实验加入T/S交换及呼叫控制。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README包含完整命令与评分表。模板初始5分属正常。不得用examples教师结果冒充自己的results。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允许AI辅助，不要求编造出错。学生须解释一个核心循环并提供验证证据。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1C5670B-161C-4BBE-8894-84BA21DC6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CBF2A61-BEB5-4376-BF24-DF220841C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CB9E67F-F572-40DD-87A8-D486DF65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1B77123-9232-48F4-90C0-3D615B7C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B34226-EA12-4DCF-8BF3-EC6F7C67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CA0E9D-7D61-41FA-8264-005C95CD6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DAE1180-2254-404D-BBE1-7D6FCD5D3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5C9BE2-1BA6-44CF-A07C-7561213747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8AA97D0-F60A-43F2-8164-A3E052CA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64D196F-137D-44CA-87C7-8C6F3EEDD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A2161AB-AF25-407F-B040-D4FDD0CCAC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实验一 电路交换与分组交换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9548572C-B946-433D-86FB-D552887943D3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相同业务、相同容量下，比较两种资源分配方式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C63925F6-EC20-4C23-912B-0301095C52C6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完成三个核心函数，并用数据解释结果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7277D88D-DF09-446A-B48E-E84801D889A8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本实验为期末数字程控交换机准备时隙与性能模块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82652E9-8CDC-4483-B28C-A717CDD0105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1 / 10</a:t>
            </a:r>
          </a:p>
        </p:txBody>
      </p:sp>
    </p:spTree>
    <p:extLst>
      <p:ext uri="{BB962C8B-B14F-4D97-AF65-F5344CB8AC3E}">
        <p14:creationId xmlns:p14="http://schemas.microsoft.com/office/powerpoint/2010/main" val="8242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538D1A70-F9CE-4408-BEA1-204D934BB2C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仿真模型与公平条件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E27EA06C-6B5A-4432-8531-D94AE805B1A6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4用户，256 tick，每tick为1 ms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7E752A96-974E-4944-98A4-94817EA6D916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每tick最多发送128 bit，总速率128 kbit/s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FB5848FE-4FAA-4EFB-B2F2-43C2CC2C9914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电路固定轮流服务，分组采用共享FIFO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B80EB49D-2636-42D2-878F-277986ED686D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分组增加32 bit包头，两模型缓存均为4096 bit</a:t>
            </a:r>
          </a:p>
        </p:txBody>
      </p:sp>
      <p:sp>
        <p:nvSpPr>
          <p:cNvPr id="6" name="reveal-4">
            <a:extLst>
              <a:ext uri="{FF2B5EF4-FFF2-40B4-BE49-F238E27FC236}">
                <a16:creationId xmlns:a16="http://schemas.microsoft.com/office/drawing/2014/main" id="{39F6FECE-CEE4-47A3-90D2-740B6D3D6827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到达先于发送，观察结束后的数据保留为积压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D9BF891-AF8C-4279-85D8-51B9B6A61AA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2 / 10</a:t>
            </a:r>
          </a:p>
        </p:txBody>
      </p:sp>
    </p:spTree>
    <p:extLst>
      <p:ext uri="{BB962C8B-B14F-4D97-AF65-F5344CB8AC3E}">
        <p14:creationId xmlns:p14="http://schemas.microsoft.com/office/powerpoint/2010/main" val="99871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7F766552-3DF6-4C2B-B77B-F86E7E1CBB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四种业务需要分别比较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4A58A3E6-46DB-433F-8980-5511921A1DB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连续满载：观察包头占用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23250CA8-E335-4321-AD8E-6C56B7BD818B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错峰突发：观察共享带宽与固定预留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D0ED76B8-8C0F-4F59-B691-23E2204471FD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同步突发：观察排队和有限缓存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87F8F48E-5168-4F2C-8E08-F1AEC5A09B84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轻载随机：固定种子复现并比较时延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D50C4E53-5DDA-4891-BB8C-38C62BE5A09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3 / 10</a:t>
            </a:r>
          </a:p>
        </p:txBody>
      </p:sp>
    </p:spTree>
    <p:extLst>
      <p:ext uri="{BB962C8B-B14F-4D97-AF65-F5344CB8AC3E}">
        <p14:creationId xmlns:p14="http://schemas.microsoft.com/office/powerpoint/2010/main" val="7967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1724C7D-227D-4EBE-B664-BC6B546FF6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任务一 固定时隙发送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B9F6E436-2050-4BF6-A355-4178D31EE68E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文件：src/part1_circuit.py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DF048F14-16BA-4099-B4F7-F5EAE2A12193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当前服务用户为 tick % users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2DC23A6D-F31F-4ED7-A466-A3D8E5E0EA1E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其他用户不能借用空闲预留时隙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B5EB4351-4AE0-498B-86E7-F8B4A85101E8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本用户按FIFO发送，可部分发送并保留剩余量</a:t>
            </a:r>
          </a:p>
        </p:txBody>
      </p:sp>
      <p:sp>
        <p:nvSpPr>
          <p:cNvPr id="6" name="reveal-4">
            <a:extLst>
              <a:ext uri="{FF2B5EF4-FFF2-40B4-BE49-F238E27FC236}">
                <a16:creationId xmlns:a16="http://schemas.microsoft.com/office/drawing/2014/main" id="{F23ABC76-B7B1-4C9F-8FEC-6628F84CFA46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返回已用线速比特数和完整发送的记录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FF74DB8-CCF9-4245-B8AC-8AD54ED8AE9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4 / 10</a:t>
            </a:r>
          </a:p>
        </p:txBody>
      </p:sp>
    </p:spTree>
    <p:extLst>
      <p:ext uri="{BB962C8B-B14F-4D97-AF65-F5344CB8AC3E}">
        <p14:creationId xmlns:p14="http://schemas.microsoft.com/office/powerpoint/2010/main" val="39139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BF76B9AF-5135-4963-AF0C-46285C34200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任务二 共享队列发送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BF289B3B-20B0-4DBB-8C98-BF93C9C8C8C1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文件：src/part2_packet.py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48015514-C8CA-4D6B-AE4E-A038617516D3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队首未完成时继续发送，其他记录不能插队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1F58E330-2402-4295-ABA3-EC2B93BDFEA1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remaining_wire_bits已经包含一次包头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6931F5AB-F80D-4529-8D4F-67E32432C738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一个分组可以跨多个tick，剩余预算可服务下一项</a:t>
            </a:r>
          </a:p>
        </p:txBody>
      </p:sp>
      <p:sp>
        <p:nvSpPr>
          <p:cNvPr id="6" name="reveal-4">
            <a:extLst>
              <a:ext uri="{FF2B5EF4-FFF2-40B4-BE49-F238E27FC236}">
                <a16:creationId xmlns:a16="http://schemas.microsoft.com/office/drawing/2014/main" id="{2A81D5BE-8864-4869-886F-C38C6DB932C7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两模型采用相同的缓存准入规则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9C422D9-B880-4AE3-9AB0-8A8E445AD42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5 / 10</a:t>
            </a:r>
          </a:p>
        </p:txBody>
      </p:sp>
    </p:spTree>
    <p:extLst>
      <p:ext uri="{BB962C8B-B14F-4D97-AF65-F5344CB8AC3E}">
        <p14:creationId xmlns:p14="http://schemas.microsoft.com/office/powerpoint/2010/main" val="101452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9821725-E9EE-49AC-ACA2-F60AC303458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任务三 指标与守恒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CCEF5DCB-4601-4F70-97D1-B4701D861728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有效利用率看完整交付的payload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F9810CCE-97A3-49E5-85C8-1E8CEAB21F5E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线路忙碌率还包括包头与部分发送的数据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29180956-75D5-426D-98C2-E250A6E4CFE2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时延只看完成记录，必须结合丢失与积压解释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CEB0829A-BE1F-43D0-A636-CF2A044D3E9F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生成量等于已交付、已丢弃与未完成之和</a:t>
            </a:r>
          </a:p>
        </p:txBody>
      </p:sp>
      <p:sp>
        <p:nvSpPr>
          <p:cNvPr id="6" name="reveal-4">
            <a:extLst>
              <a:ext uri="{FF2B5EF4-FFF2-40B4-BE49-F238E27FC236}">
                <a16:creationId xmlns:a16="http://schemas.microsoft.com/office/drawing/2014/main" id="{9295ED45-A6B7-47BD-8B6A-92712D6CE53F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无完成记录时，时延为None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20DBB5B-F70F-4B56-82E4-2E817272643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6 / 10</a:t>
            </a:r>
          </a:p>
        </p:txBody>
      </p:sp>
    </p:spTree>
    <p:extLst>
      <p:ext uri="{BB962C8B-B14F-4D97-AF65-F5344CB8AC3E}">
        <p14:creationId xmlns:p14="http://schemas.microsoft.com/office/powerpoint/2010/main" val="169247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A0027ECD-5782-4054-A391-F95E40B790C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参考结果中的不同结论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503203-44A8-4393-8CB0-E489FB22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836284"/>
            <a:ext cx="11144250" cy="3661682"/>
          </a:xfrm>
          <a:prstGeom prst="rect">
            <a:avLst/>
          </a:prstGeom>
        </p:spPr>
      </p:pic>
      <p:sp>
        <p:nvSpPr>
          <p:cNvPr id="3" name="caption">
            <a:extLst>
              <a:ext uri="{FF2B5EF4-FFF2-40B4-BE49-F238E27FC236}">
                <a16:creationId xmlns:a16="http://schemas.microsoft.com/office/drawing/2014/main" id="{BEB8821A-0835-48A2-8475-90659286D1A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8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教师参考实现结果，参数与假设见实验指导书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5DBBBB2-A2FF-4DA1-B1A6-7F781269AAD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7 / 10</a:t>
            </a:r>
          </a:p>
        </p:txBody>
      </p:sp>
    </p:spTree>
    <p:extLst>
      <p:ext uri="{BB962C8B-B14F-4D97-AF65-F5344CB8AC3E}">
        <p14:creationId xmlns:p14="http://schemas.microsoft.com/office/powerpoint/2010/main" val="1512894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B9969F32-63F0-44E9-8057-DC1BBEB61CF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时隙观察与期末项目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2CEE2F-5338-4A9A-89D8-56118EC8E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2147455"/>
            <a:ext cx="11144250" cy="3039341"/>
          </a:xfrm>
          <a:prstGeom prst="rect">
            <a:avLst/>
          </a:prstGeom>
        </p:spPr>
      </p:pic>
      <p:sp>
        <p:nvSpPr>
          <p:cNvPr id="3" name="caption">
            <a:extLst>
              <a:ext uri="{FF2B5EF4-FFF2-40B4-BE49-F238E27FC236}">
                <a16:creationId xmlns:a16="http://schemas.microsoft.com/office/drawing/2014/main" id="{474A8C4D-2051-4465-BC78-48A827ABDDAA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8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教师参考实现结果，参数与假设见实验指导书</a:t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7D792E3-A174-4E5D-8535-21E62B2CE22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8 / 10</a:t>
            </a:r>
          </a:p>
        </p:txBody>
      </p:sp>
    </p:spTree>
    <p:extLst>
      <p:ext uri="{BB962C8B-B14F-4D97-AF65-F5344CB8AC3E}">
        <p14:creationId xmlns:p14="http://schemas.microsoft.com/office/powerpoint/2010/main" val="181508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B70B8094-5586-4BA4-B72B-418D6DA68F2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本地验证与GitHub提交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0A2B12C6-0106-4594-BBBB-229D0C28EB3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运行环境检查，补全三个TODO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CCBADC81-431B-4C9C-9B8D-7AEB0B7DAF1A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运行pytest，再生成comparison数据与三张图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A1AD4291-5340-4537-834C-2EA682EA7D7A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完成REPORT、AI_LOG和一项自拟反例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6858DF0B-E601-48B4-9C22-0C22D97E55FF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PR标题：现代交换实验01-姓名-学号</a:t>
            </a:r>
          </a:p>
        </p:txBody>
      </p:sp>
      <p:sp>
        <p:nvSpPr>
          <p:cNvPr id="6" name="reveal-4">
            <a:extLst>
              <a:ext uri="{FF2B5EF4-FFF2-40B4-BE49-F238E27FC236}">
                <a16:creationId xmlns:a16="http://schemas.microsoft.com/office/drawing/2014/main" id="{B82FA643-4167-4866-98D3-33943966B2AF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自动70分，教师复核30分；Summary与Artifacts可查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2486EC9-3218-4694-8296-50119AFE522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9 / 10</a:t>
            </a:r>
          </a:p>
        </p:txBody>
      </p:sp>
    </p:spTree>
    <p:extLst>
      <p:ext uri="{BB962C8B-B14F-4D97-AF65-F5344CB8AC3E}">
        <p14:creationId xmlns:p14="http://schemas.microsoft.com/office/powerpoint/2010/main" val="160366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2B0F732-F520-4D46-8D81-B7C33ABD67D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3000" b="1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354A"/>
                </a:solidFill>
                <a:latin typeface="SimSun"/>
                <a:ea typeface="SimSun"/>
                <a:cs typeface="SimSun"/>
              </a:rPr>
              <a:t>AI协作与课堂安排</a:t>
            </a:r>
          </a:p>
        </p:txBody>
      </p:sp>
      <p:sp>
        <p:nvSpPr>
          <p:cNvPr id="2" name="reveal-0">
            <a:extLst>
              <a:ext uri="{FF2B5EF4-FFF2-40B4-BE49-F238E27FC236}">
                <a16:creationId xmlns:a16="http://schemas.microsoft.com/office/drawing/2014/main" id="{8A40747D-D445-492E-AFF9-689347D4361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先写小例子的手算预期，再请求AI实现</a:t>
            </a:r>
          </a:p>
        </p:txBody>
      </p:sp>
      <p:sp>
        <p:nvSpPr>
          <p:cNvPr id="3" name="reveal-1">
            <a:extLst>
              <a:ext uri="{FF2B5EF4-FFF2-40B4-BE49-F238E27FC236}">
                <a16:creationId xmlns:a16="http://schemas.microsoft.com/office/drawing/2014/main" id="{A3BB7B29-A115-4284-958C-FFAB8CD6C99B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用反例检查借用时隙、重复包头与遗漏积压</a:t>
            </a:r>
          </a:p>
        </p:txBody>
      </p:sp>
      <p:sp>
        <p:nvSpPr>
          <p:cNvPr id="4" name="reveal-2">
            <a:extLst>
              <a:ext uri="{FF2B5EF4-FFF2-40B4-BE49-F238E27FC236}">
                <a16:creationId xmlns:a16="http://schemas.microsoft.com/office/drawing/2014/main" id="{79B69026-9FCC-4DE7-805B-802F202C0AA4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120分钟：原理20、演示15、实现55、反例20、提交10</a:t>
            </a:r>
          </a:p>
        </p:txBody>
      </p:sp>
      <p:sp>
        <p:nvSpPr>
          <p:cNvPr id="5" name="reveal-3">
            <a:extLst>
              <a:ext uri="{FF2B5EF4-FFF2-40B4-BE49-F238E27FC236}">
                <a16:creationId xmlns:a16="http://schemas.microsoft.com/office/drawing/2014/main" id="{220E66E0-72B0-439C-8180-D5ED3945382A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21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21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保留可解释的代码，为后续实验和期末集成做准备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1E90ADDF-D43B-4C94-BBA9-782398E1A23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defPPr>
          </a:lstStyle>
          <a:p>
            <a:pPr>
              <a:defRPr sz="1500" b="0">
                <a:solidFill>
                  <a:srgbClr val="17354A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7354A"/>
                </a:solidFill>
                <a:latin typeface="SimSun"/>
                <a:ea typeface="SimSun"/>
                <a:cs typeface="SimSun"/>
              </a:rPr>
              <a:t>现代交换原理 实验01                                      10 / 10</a:t>
            </a:r>
          </a:p>
        </p:txBody>
      </p:sp>
    </p:spTree>
    <p:extLst>
      <p:ext uri="{BB962C8B-B14F-4D97-AF65-F5344CB8AC3E}">
        <p14:creationId xmlns:p14="http://schemas.microsoft.com/office/powerpoint/2010/main" val="75965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DocSecurity>0</DocSecurity>
  <PresentationFormat>宽屏</PresentationFormat>
  <Paragraphs>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Aptos</vt:lpstr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</cp:revision>
  <dcterms:created xsi:type="dcterms:W3CDTF">2026-10-16T12:26:05Z</dcterms:created>
  <dcterms:modified xsi:type="dcterms:W3CDTF">2026-10-16T12:26:50Z</dcterms:modified>
</cp:coreProperties>
</file>